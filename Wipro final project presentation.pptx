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>
      <p:cViewPr varScale="1">
        <p:scale>
          <a:sx n="70" d="100"/>
          <a:sy n="70" d="100"/>
        </p:scale>
        <p:origin x="57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374" y="186583"/>
            <a:ext cx="458089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8956" y="1410957"/>
            <a:ext cx="10990580" cy="2549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187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65788" y="6665440"/>
            <a:ext cx="685800" cy="260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412021" y="6415609"/>
            <a:ext cx="3284952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5859" y="6443100"/>
            <a:ext cx="233347" cy="1962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psconsulting.i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187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226" y="237669"/>
            <a:ext cx="1207637" cy="788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526" y="1476828"/>
            <a:ext cx="65017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WIPRO</a:t>
            </a:r>
            <a:r>
              <a:rPr sz="28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NGA</a:t>
            </a:r>
            <a:r>
              <a:rPr sz="28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28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800" b="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Calibri"/>
                <a:cs typeface="Calibri"/>
              </a:rPr>
              <a:t>25SUB4530_CP_JAVA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105400" y="6629400"/>
            <a:ext cx="12461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3526" y="6120978"/>
            <a:ext cx="160591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  <a:hlinkClick r:id="rId3"/>
              </a:rPr>
              <a:t>www.rpsconsulting.in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026" y="3230714"/>
            <a:ext cx="9768374" cy="252774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76200" marR="231140">
              <a:lnSpc>
                <a:spcPts val="2690"/>
              </a:lnSpc>
              <a:spcBef>
                <a:spcPts val="345"/>
              </a:spcBef>
              <a:tabLst>
                <a:tab pos="854075" algn="l"/>
                <a:tab pos="1527810" algn="l"/>
                <a:tab pos="2622550" algn="l"/>
                <a:tab pos="4481195" algn="l"/>
                <a:tab pos="4798695" algn="l"/>
                <a:tab pos="5290185" algn="l"/>
                <a:tab pos="5963285" algn="l"/>
                <a:tab pos="6313805" algn="l"/>
              </a:tabLst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Capstone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sz="2400" spc="-37" baseline="31250" dirty="0">
                <a:solidFill>
                  <a:srgbClr val="FFFFFF"/>
                </a:solidFill>
                <a:latin typeface="Arial MT"/>
                <a:cs typeface="Arial MT"/>
              </a:rPr>
              <a:t>th</a:t>
            </a:r>
            <a:r>
              <a:rPr sz="2400" baseline="312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Feb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2400" spc="-30" baseline="31250" dirty="0">
                <a:solidFill>
                  <a:srgbClr val="FFFFFF"/>
                </a:solidFill>
                <a:latin typeface="Arial MT"/>
                <a:cs typeface="Arial MT"/>
              </a:rPr>
              <a:t>th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Feb</a:t>
            </a:r>
            <a:r>
              <a:rPr lang="en-US"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2400" dirty="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  <a:spcBef>
                <a:spcPts val="116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Title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Here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Employee</a:t>
            </a:r>
            <a:r>
              <a:rPr lang="en-US"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400" dirty="0">
              <a:latin typeface="Arial MT"/>
              <a:cs typeface="Arial MT"/>
            </a:endParaRPr>
          </a:p>
          <a:p>
            <a:pPr marL="75565">
              <a:lnSpc>
                <a:spcPct val="15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Presented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 err="1">
                <a:solidFill>
                  <a:srgbClr val="FFFFFF"/>
                </a:solidFill>
                <a:latin typeface="Arial MT"/>
                <a:cs typeface="Arial MT"/>
              </a:rPr>
              <a:t>Niranchana</a:t>
            </a:r>
            <a:r>
              <a:rPr lang="en-US" sz="2400" spc="-10" dirty="0">
                <a:solidFill>
                  <a:srgbClr val="FFFFFF"/>
                </a:solidFill>
                <a:latin typeface="Arial MT"/>
                <a:cs typeface="Arial MT"/>
              </a:rPr>
              <a:t> Jayesh</a:t>
            </a:r>
            <a:endParaRPr lang="en-US" sz="2400" spc="-10" dirty="0">
              <a:latin typeface="Arial MT"/>
              <a:cs typeface="Arial MT"/>
            </a:endParaRPr>
          </a:p>
          <a:p>
            <a:pPr marL="75565">
              <a:lnSpc>
                <a:spcPct val="150000"/>
              </a:lnSpc>
              <a:spcBef>
                <a:spcPts val="5"/>
              </a:spcBef>
            </a:pPr>
            <a:r>
              <a:rPr lang="en-US" sz="2400" spc="-10" dirty="0">
                <a:solidFill>
                  <a:srgbClr val="FFFFFF"/>
                </a:solidFill>
                <a:latin typeface="Arial MT"/>
                <a:cs typeface="Arial MT"/>
              </a:rPr>
              <a:t>                          </a:t>
            </a:r>
            <a:r>
              <a:rPr sz="2400" dirty="0" err="1">
                <a:solidFill>
                  <a:srgbClr val="FFFFFF"/>
                </a:solidFill>
                <a:latin typeface="Arial MT"/>
                <a:cs typeface="Arial MT"/>
              </a:rPr>
              <a:t>Poorneswar</a:t>
            </a:r>
            <a:r>
              <a:rPr sz="24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Reddy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4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099" y="922257"/>
            <a:ext cx="180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Introduction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57800" y="6639327"/>
            <a:ext cx="10937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225" y="1921821"/>
            <a:ext cx="1089596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 algn="just">
              <a:lnSpc>
                <a:spcPct val="114999"/>
              </a:lnSpc>
              <a:spcBef>
                <a:spcPts val="100"/>
              </a:spcBef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modern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web-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based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solution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developed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simplify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process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of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managing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information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within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organization.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It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enables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administrators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store,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update,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retrieve,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records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efficiently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through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centralized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digital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platform.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marL="441325" marR="92710" indent="-428625" algn="just">
              <a:lnSpc>
                <a:spcPct val="114999"/>
              </a:lnSpc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eliminates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manual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paperwork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reduces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handling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errors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by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providing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structured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database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and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automated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operations.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With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interactive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user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interface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secure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backend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processing,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application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ensures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quick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access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smooth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management.</a:t>
            </a: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930"/>
              </a:spcBef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marL="441325" marR="506730" indent="-428625" algn="just">
              <a:lnSpc>
                <a:spcPct val="114999"/>
              </a:lnSpc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This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solution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improves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administrative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productivity,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enhances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accuracy,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provides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organizations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with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an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effective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tool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information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management.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099" y="922257"/>
            <a:ext cx="249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187CC"/>
                </a:solidFill>
                <a:latin typeface="Arial"/>
                <a:cs typeface="Arial"/>
              </a:rPr>
              <a:t>Project</a:t>
            </a:r>
            <a:r>
              <a:rPr sz="2400" b="1" spc="-9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Overview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57800" y="6639327"/>
            <a:ext cx="10937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225" y="1921821"/>
            <a:ext cx="1074928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60960" indent="-428625" algn="just">
              <a:lnSpc>
                <a:spcPct val="114999"/>
              </a:lnSpc>
              <a:spcBef>
                <a:spcPts val="100"/>
              </a:spcBef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is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web-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based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application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developed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information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an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efficient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organized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manner.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It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provides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centralized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platform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where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administrators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can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easily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add,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update,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search,</a:t>
            </a:r>
            <a:r>
              <a:rPr sz="16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view,</a:t>
            </a:r>
            <a:r>
              <a:rPr sz="16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delete</a:t>
            </a:r>
            <a:r>
              <a:rPr sz="16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records.</a:t>
            </a: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925"/>
              </a:spcBef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marL="441325" marR="5080" indent="-428625" algn="just">
              <a:lnSpc>
                <a:spcPct val="114999"/>
              </a:lnSpc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integrates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responsive</a:t>
            </a:r>
            <a:r>
              <a:rPr sz="1600" spc="-10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Angular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frontend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with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Spring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Boot</a:t>
            </a:r>
            <a:r>
              <a:rPr sz="16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backend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that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handles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business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logic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database</a:t>
            </a:r>
            <a:r>
              <a:rPr sz="16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operations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through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RESTful</a:t>
            </a:r>
            <a:r>
              <a:rPr sz="1600" spc="-10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APIs.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By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automating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management,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application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reduces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manual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work,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improves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accuracy,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ensures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quick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access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information.</a:t>
            </a: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930"/>
              </a:spcBef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marL="441325" marR="756285" indent="-428625" algn="just">
              <a:lnSpc>
                <a:spcPct val="114999"/>
              </a:lnSpc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Overall,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project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aims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simplify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enhance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operational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efficiency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within organizations.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099" y="858606"/>
            <a:ext cx="280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187CC"/>
                </a:solidFill>
                <a:latin typeface="Arial"/>
                <a:cs typeface="Arial"/>
              </a:rPr>
              <a:t>Problem</a:t>
            </a:r>
            <a:r>
              <a:rPr sz="2400" b="1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Statement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57800" y="6639327"/>
            <a:ext cx="10937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225" y="1921821"/>
            <a:ext cx="10923905" cy="3037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 algn="just">
              <a:lnSpc>
                <a:spcPct val="150000"/>
              </a:lnSpc>
              <a:spcBef>
                <a:spcPts val="100"/>
              </a:spcBef>
              <a:buFont typeface="MS PGothic"/>
              <a:buChar char="❖"/>
              <a:tabLst>
                <a:tab pos="441325" algn="l"/>
              </a:tabLst>
            </a:pP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many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organizations,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records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are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still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managed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manually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through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multiple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disconnected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systems.</a:t>
            </a:r>
            <a:r>
              <a:rPr sz="1600" spc="-6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This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often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leads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errors,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duplicated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data,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difficulties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maintaining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accurate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information.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Finding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updating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details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can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become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slow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confusing,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especially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when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number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of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increases.</a:t>
            </a: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50000"/>
              </a:lnSpc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algn="just">
              <a:lnSpc>
                <a:spcPct val="150000"/>
              </a:lnSpc>
              <a:spcBef>
                <a:spcPts val="925"/>
              </a:spcBef>
              <a:buClr>
                <a:srgbClr val="0187CC"/>
              </a:buClr>
              <a:buFont typeface="MS PGothic"/>
              <a:buChar char="❖"/>
            </a:pPr>
            <a:endParaRPr sz="1600" dirty="0">
              <a:latin typeface="Arial MT"/>
              <a:cs typeface="Arial MT"/>
            </a:endParaRPr>
          </a:p>
          <a:p>
            <a:pPr marL="441325" marR="99060" indent="-428625" algn="just">
              <a:lnSpc>
                <a:spcPct val="150000"/>
              </a:lnSpc>
              <a:buFont typeface="MS PGothic"/>
              <a:buChar char="❖"/>
              <a:tabLst>
                <a:tab pos="441325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overcome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these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challenges,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there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is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need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centralized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automated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that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can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efficiently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information.</a:t>
            </a:r>
            <a:r>
              <a:rPr sz="1600" spc="-9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System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helps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reduce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manual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effort,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improves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accuracy,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and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makes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faster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more</a:t>
            </a:r>
            <a:r>
              <a:rPr sz="1600" spc="-4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reliable.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099" y="826782"/>
            <a:ext cx="221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187CC"/>
                </a:solidFill>
                <a:latin typeface="Arial"/>
                <a:cs typeface="Arial"/>
              </a:rPr>
              <a:t>Key</a:t>
            </a:r>
            <a:r>
              <a:rPr sz="2400" b="1" spc="-6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Objectives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181600" y="6639327"/>
            <a:ext cx="11699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225" y="1958397"/>
            <a:ext cx="6808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0690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maintain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records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centralized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organized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system.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225" y="2824029"/>
            <a:ext cx="50927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0690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reduce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errors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caused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by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manual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handling.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225" y="3689660"/>
            <a:ext cx="724915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0690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provide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quick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access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searching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updating</a:t>
            </a:r>
            <a:r>
              <a:rPr sz="16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information.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225" y="4555293"/>
            <a:ext cx="5078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0690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improve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efficiency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managing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data.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225" y="5420925"/>
            <a:ext cx="69215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0690" algn="l"/>
              </a:tabLst>
            </a:pPr>
            <a:r>
              <a:rPr sz="1600" spc="-8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simplify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administrative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operations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related</a:t>
            </a:r>
            <a:r>
              <a:rPr sz="16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6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187CC"/>
                </a:solidFill>
                <a:latin typeface="Arial MT"/>
                <a:cs typeface="Arial MT"/>
              </a:rPr>
              <a:t>management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6310" y="868251"/>
            <a:ext cx="2610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Technology</a:t>
            </a:r>
            <a:r>
              <a:rPr sz="2400" b="1" spc="-1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Stack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57800" y="6639327"/>
            <a:ext cx="10937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8173" y="1593324"/>
            <a:ext cx="11266772" cy="39138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indent="-41465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27355" algn="l"/>
              </a:tabLst>
            </a:pPr>
            <a:r>
              <a:rPr sz="1400" b="1" dirty="0">
                <a:solidFill>
                  <a:srgbClr val="0187CC"/>
                </a:solidFill>
                <a:latin typeface="Arial"/>
                <a:cs typeface="Arial"/>
              </a:rPr>
              <a:t>Frontend</a:t>
            </a:r>
            <a:r>
              <a:rPr sz="1400" b="1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87CC"/>
                </a:solidFill>
                <a:latin typeface="Arial"/>
                <a:cs typeface="Arial"/>
              </a:rPr>
              <a:t>Technologies</a:t>
            </a:r>
            <a:endParaRPr sz="1400" dirty="0">
              <a:latin typeface="Arial"/>
              <a:cs typeface="Arial"/>
            </a:endParaRPr>
          </a:p>
          <a:p>
            <a:pPr marL="528320" lvl="1" indent="-100965">
              <a:lnSpc>
                <a:spcPct val="100000"/>
              </a:lnSpc>
              <a:spcBef>
                <a:spcPts val="1450"/>
              </a:spcBef>
              <a:buChar char="•"/>
              <a:tabLst>
                <a:tab pos="528320" algn="l"/>
              </a:tabLst>
            </a:pP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Angular</a:t>
            </a:r>
            <a:r>
              <a:rPr sz="1400" spc="-3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framework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build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responsive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interactive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user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interface.</a:t>
            </a:r>
            <a:endParaRPr sz="1400" dirty="0">
              <a:latin typeface="Arial MT"/>
              <a:cs typeface="Arial MT"/>
            </a:endParaRPr>
          </a:p>
          <a:p>
            <a:pPr marL="587375" lvl="1" indent="-110489">
              <a:lnSpc>
                <a:spcPct val="100000"/>
              </a:lnSpc>
              <a:spcBef>
                <a:spcPts val="254"/>
              </a:spcBef>
              <a:buChar char="•"/>
              <a:tabLst>
                <a:tab pos="587375" algn="l"/>
              </a:tabLst>
            </a:pP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HTML,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CSS,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5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TypeScript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UI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structure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styling.</a:t>
            </a:r>
            <a:endParaRPr sz="1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0187CC"/>
              </a:buClr>
              <a:buFont typeface="Arial MT"/>
              <a:buChar char="•"/>
            </a:pPr>
            <a:endParaRPr sz="1400" dirty="0">
              <a:latin typeface="Arial MT"/>
              <a:cs typeface="Arial MT"/>
            </a:endParaRPr>
          </a:p>
          <a:p>
            <a:pPr marL="427355" indent="-414655">
              <a:lnSpc>
                <a:spcPct val="100000"/>
              </a:lnSpc>
              <a:buFont typeface="MS PGothic"/>
              <a:buChar char="❖"/>
              <a:tabLst>
                <a:tab pos="427355" algn="l"/>
              </a:tabLst>
            </a:pPr>
            <a:r>
              <a:rPr sz="1400" b="1" dirty="0">
                <a:solidFill>
                  <a:srgbClr val="0187CC"/>
                </a:solidFill>
                <a:latin typeface="Arial"/>
                <a:cs typeface="Arial"/>
              </a:rPr>
              <a:t>Backend</a:t>
            </a:r>
            <a:r>
              <a:rPr sz="1400" b="1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87CC"/>
                </a:solidFill>
                <a:latin typeface="Arial"/>
                <a:cs typeface="Arial"/>
              </a:rPr>
              <a:t>Technologies</a:t>
            </a:r>
            <a:endParaRPr sz="1400" dirty="0">
              <a:latin typeface="Arial"/>
              <a:cs typeface="Arial"/>
            </a:endParaRPr>
          </a:p>
          <a:p>
            <a:pPr marL="537845" lvl="1" indent="-110489">
              <a:lnSpc>
                <a:spcPct val="100000"/>
              </a:lnSpc>
              <a:spcBef>
                <a:spcPts val="1450"/>
              </a:spcBef>
              <a:buChar char="•"/>
              <a:tabLst>
                <a:tab pos="537845" algn="l"/>
              </a:tabLst>
            </a:pP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Spring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Boot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implement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business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logic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REST</a:t>
            </a:r>
            <a:r>
              <a:rPr sz="1400" spc="-10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APIs.</a:t>
            </a:r>
            <a:endParaRPr sz="1400" dirty="0">
              <a:latin typeface="Arial MT"/>
              <a:cs typeface="Arial MT"/>
            </a:endParaRPr>
          </a:p>
          <a:p>
            <a:pPr marL="587375" lvl="1" indent="-110489">
              <a:lnSpc>
                <a:spcPct val="100000"/>
              </a:lnSpc>
              <a:spcBef>
                <a:spcPts val="254"/>
              </a:spcBef>
              <a:buChar char="•"/>
              <a:tabLst>
                <a:tab pos="587375" algn="l"/>
              </a:tabLst>
            </a:pP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Spring</a:t>
            </a:r>
            <a:r>
              <a:rPr sz="1400" spc="-3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Data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45" dirty="0">
                <a:solidFill>
                  <a:srgbClr val="0187CC"/>
                </a:solidFill>
                <a:latin typeface="Arial MT"/>
                <a:cs typeface="Arial MT"/>
              </a:rPr>
              <a:t>JPA</a:t>
            </a:r>
            <a:r>
              <a:rPr sz="1400" spc="-8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database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interaction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O</a:t>
            </a:r>
            <a:r>
              <a:rPr lang="en-US" sz="1400" dirty="0">
                <a:solidFill>
                  <a:srgbClr val="0187CC"/>
                </a:solidFill>
                <a:latin typeface="Arial MT"/>
                <a:cs typeface="Arial MT"/>
              </a:rPr>
              <a:t>bject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R</a:t>
            </a:r>
            <a:r>
              <a:rPr lang="en-US" sz="1400" dirty="0">
                <a:solidFill>
                  <a:srgbClr val="0187CC"/>
                </a:solidFill>
                <a:latin typeface="Arial MT"/>
                <a:cs typeface="Arial MT"/>
              </a:rPr>
              <a:t>elational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0187CC"/>
                </a:solidFill>
                <a:latin typeface="Arial MT"/>
                <a:cs typeface="Arial MT"/>
              </a:rPr>
              <a:t>apping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functionality.</a:t>
            </a:r>
            <a:endParaRPr sz="1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0187CC"/>
              </a:buClr>
              <a:buFont typeface="Arial MT"/>
              <a:buChar char="•"/>
            </a:pPr>
            <a:endParaRPr sz="1400" dirty="0">
              <a:latin typeface="Arial MT"/>
              <a:cs typeface="Arial MT"/>
            </a:endParaRPr>
          </a:p>
          <a:p>
            <a:pPr marL="427355" indent="-414655">
              <a:lnSpc>
                <a:spcPct val="100000"/>
              </a:lnSpc>
              <a:buFont typeface="MS PGothic"/>
              <a:buChar char="❖"/>
              <a:tabLst>
                <a:tab pos="427355" algn="l"/>
              </a:tabLst>
            </a:pPr>
            <a:r>
              <a:rPr sz="1400" b="1" spc="-10" dirty="0">
                <a:solidFill>
                  <a:srgbClr val="0187CC"/>
                </a:solidFill>
                <a:latin typeface="Arial"/>
                <a:cs typeface="Arial"/>
              </a:rPr>
              <a:t>Database</a:t>
            </a:r>
            <a:endParaRPr sz="1400" dirty="0">
              <a:latin typeface="Arial"/>
              <a:cs typeface="Arial"/>
            </a:endParaRPr>
          </a:p>
          <a:p>
            <a:pPr marL="537845" lvl="1" indent="-110489">
              <a:lnSpc>
                <a:spcPct val="100000"/>
              </a:lnSpc>
              <a:spcBef>
                <a:spcPts val="1455"/>
              </a:spcBef>
              <a:buChar char="•"/>
              <a:tabLst>
                <a:tab pos="537845" algn="l"/>
              </a:tabLst>
            </a:pPr>
            <a:r>
              <a:rPr lang="en-US" sz="1400">
                <a:solidFill>
                  <a:srgbClr val="0187CC"/>
                </a:solidFill>
                <a:latin typeface="Arial MT"/>
                <a:cs typeface="Arial MT"/>
              </a:rPr>
              <a:t>MySQL </a:t>
            </a:r>
            <a:r>
              <a:rPr lang="en-US" sz="1400" dirty="0">
                <a:solidFill>
                  <a:srgbClr val="0187CC"/>
                </a:solidFill>
                <a:latin typeface="Arial MT"/>
                <a:cs typeface="Arial MT"/>
              </a:rPr>
              <a:t>is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store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employee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records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securely.</a:t>
            </a:r>
            <a:endParaRPr sz="1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0187CC"/>
              </a:buClr>
              <a:buFont typeface="Arial MT"/>
              <a:buChar char="•"/>
            </a:pPr>
            <a:endParaRPr sz="1400" dirty="0">
              <a:latin typeface="Arial MT"/>
              <a:cs typeface="Arial MT"/>
            </a:endParaRPr>
          </a:p>
          <a:p>
            <a:pPr marL="427355" indent="-414655">
              <a:lnSpc>
                <a:spcPct val="100000"/>
              </a:lnSpc>
              <a:buFont typeface="MS PGothic"/>
              <a:buChar char="❖"/>
              <a:tabLst>
                <a:tab pos="427355" algn="l"/>
              </a:tabLst>
            </a:pPr>
            <a:r>
              <a:rPr sz="1400" b="1" dirty="0">
                <a:solidFill>
                  <a:srgbClr val="0187CC"/>
                </a:solidFill>
                <a:latin typeface="Arial"/>
                <a:cs typeface="Arial"/>
              </a:rPr>
              <a:t>DevOps</a:t>
            </a:r>
            <a:r>
              <a:rPr sz="1400" b="1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187CC"/>
                </a:solidFill>
                <a:latin typeface="Arial"/>
                <a:cs typeface="Arial"/>
              </a:rPr>
              <a:t>&amp;</a:t>
            </a:r>
            <a:r>
              <a:rPr sz="1400" b="1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87CC"/>
                </a:solidFill>
                <a:latin typeface="Arial"/>
                <a:cs typeface="Arial"/>
              </a:rPr>
              <a:t>Deployment</a:t>
            </a:r>
            <a:endParaRPr sz="1400" dirty="0">
              <a:latin typeface="Arial"/>
              <a:cs typeface="Arial"/>
            </a:endParaRPr>
          </a:p>
          <a:p>
            <a:pPr marL="537845" lvl="1" indent="-110489">
              <a:lnSpc>
                <a:spcPct val="100000"/>
              </a:lnSpc>
              <a:spcBef>
                <a:spcPts val="1450"/>
              </a:spcBef>
              <a:buChar char="•"/>
              <a:tabLst>
                <a:tab pos="537845" algn="l"/>
              </a:tabLst>
            </a:pP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Docker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containerization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application.</a:t>
            </a:r>
            <a:endParaRPr sz="1400" dirty="0">
              <a:latin typeface="Arial MT"/>
              <a:cs typeface="Arial MT"/>
            </a:endParaRPr>
          </a:p>
          <a:p>
            <a:pPr marL="587375" lvl="1" indent="-110489">
              <a:lnSpc>
                <a:spcPct val="100000"/>
              </a:lnSpc>
              <a:spcBef>
                <a:spcPts val="254"/>
              </a:spcBef>
              <a:buChar char="•"/>
              <a:tabLst>
                <a:tab pos="587375" algn="l"/>
              </a:tabLst>
            </a:pP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Microsoft</a:t>
            </a:r>
            <a:r>
              <a:rPr sz="1400" spc="-9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Azure</a:t>
            </a:r>
            <a:r>
              <a:rPr sz="1400" spc="-8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App</a:t>
            </a:r>
            <a:r>
              <a:rPr sz="1400" spc="-15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Service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used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for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cloud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deployment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187CC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0187CC"/>
                </a:solidFill>
                <a:latin typeface="Arial MT"/>
                <a:cs typeface="Arial MT"/>
              </a:rPr>
              <a:t> scalability.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0200" y="6664070"/>
            <a:ext cx="941388" cy="139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</a:rPr>
              <a:t>General</a:t>
            </a:r>
            <a:r>
              <a:rPr sz="800" dirty="0">
                <a:latin typeface="Arial MT"/>
                <a:cs typeface="Arial MT"/>
              </a:rPr>
              <a:t> - </a:t>
            </a:r>
            <a:r>
              <a:rPr sz="800" spc="-25" dirty="0">
                <a:latin typeface="Arial MT"/>
                <a:cs typeface="Arial MT"/>
              </a:rPr>
              <a:t>RPS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12118" y="6398767"/>
            <a:ext cx="328485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2024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RPS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Consulting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5788" y="6787360"/>
            <a:ext cx="240029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0" dirty="0">
                <a:latin typeface="Arial MT"/>
                <a:cs typeface="Arial MT"/>
              </a:rPr>
              <a:t>Data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0617" y="6428663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956" y="828357"/>
            <a:ext cx="6312535" cy="4803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187CC"/>
                </a:solidFill>
                <a:latin typeface="Arial"/>
                <a:cs typeface="Arial"/>
              </a:rPr>
              <a:t>Core</a:t>
            </a:r>
            <a:r>
              <a:rPr sz="2400" b="1" spc="-7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87CC"/>
                </a:solidFill>
                <a:latin typeface="Arial"/>
                <a:cs typeface="Arial"/>
              </a:rPr>
              <a:t>Functionalities</a:t>
            </a:r>
            <a:endParaRPr sz="24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spcBef>
                <a:spcPts val="2030"/>
              </a:spcBef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Add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new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records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into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system.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spcBef>
                <a:spcPts val="5"/>
              </a:spcBef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Update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existing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information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when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required.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539750" indent="-527050">
              <a:lnSpc>
                <a:spcPct val="100000"/>
              </a:lnSpc>
              <a:buFont typeface="MS PGothic"/>
              <a:buChar char="❖"/>
              <a:tabLst>
                <a:tab pos="539750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Delete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records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from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database.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View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details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organized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format.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spcBef>
                <a:spcPts val="5"/>
              </a:spcBef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Search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by</a:t>
            </a:r>
            <a:r>
              <a:rPr sz="1800" spc="-2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name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or</a:t>
            </a:r>
            <a:r>
              <a:rPr sz="1800" spc="-2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department.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956" y="6089637"/>
            <a:ext cx="5818505" cy="6565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76884" indent="-464184">
              <a:lnSpc>
                <a:spcPct val="100000"/>
              </a:lnSpc>
              <a:spcBef>
                <a:spcPts val="425"/>
              </a:spcBef>
              <a:buFont typeface="MS PGothic"/>
              <a:buChar char="❖"/>
              <a:tabLst>
                <a:tab pos="476884" algn="l"/>
              </a:tabLst>
            </a:pP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Validate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user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input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ensure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accurate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entry.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endParaRPr sz="1800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Frontend</a:t>
            </a:r>
            <a:r>
              <a:rPr spc="-4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8956" y="1452105"/>
            <a:ext cx="10848975" cy="417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 indent="-464184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frontend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developed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using</a:t>
            </a:r>
            <a:r>
              <a:rPr sz="1800" spc="-10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Angular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provide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responsive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interactive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user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interface.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buFont typeface="MS PGothic"/>
              <a:buChar char="❖"/>
              <a:tabLst>
                <a:tab pos="476884" algn="l"/>
              </a:tabLst>
            </a:pP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User-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friendly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forms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are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implemented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for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adding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updating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details.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records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are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displayed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using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structured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tables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for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easy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viewing.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Input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validation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applied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ensure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correct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entry.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0187CC"/>
              </a:buClr>
              <a:buFont typeface="MS PGothic"/>
              <a:buChar char="❖"/>
            </a:pPr>
            <a:endParaRPr sz="1800" dirty="0">
              <a:latin typeface="Arial"/>
              <a:cs typeface="Arial"/>
            </a:endParaRPr>
          </a:p>
          <a:p>
            <a:pPr marL="476884" indent="-464184">
              <a:lnSpc>
                <a:spcPct val="100000"/>
              </a:lnSpc>
              <a:buFont typeface="MS PGothic"/>
              <a:buChar char="❖"/>
              <a:tabLst>
                <a:tab pos="4768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Navigation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components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enable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smooth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access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different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modules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application.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0" y="6639327"/>
            <a:ext cx="10937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Backend</a:t>
            </a:r>
            <a:r>
              <a:rPr spc="-14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656" y="1410957"/>
            <a:ext cx="10993755" cy="420506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4184" indent="-464184">
              <a:lnSpc>
                <a:spcPct val="300000"/>
              </a:lnSpc>
              <a:spcBef>
                <a:spcPts val="420"/>
              </a:spcBef>
              <a:buFont typeface="MS PGothic"/>
              <a:buChar char="❖"/>
              <a:tabLst>
                <a:tab pos="464184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backend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developed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using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Spring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Boot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handle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application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logic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request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processing.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dirty="0">
                <a:latin typeface="MS PGothic"/>
                <a:cs typeface="MS PGothic"/>
              </a:rPr>
              <a:t>    </a:t>
            </a:r>
            <a:r>
              <a:rPr lang="en-US" sz="1800" spc="-10" dirty="0">
                <a:solidFill>
                  <a:srgbClr val="0187CC"/>
                </a:solidFill>
                <a:latin typeface="Arial"/>
                <a:cs typeface="Arial"/>
              </a:rPr>
              <a:t>RESTful</a:t>
            </a:r>
            <a:r>
              <a:rPr lang="en-US" sz="1800" spc="-114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APIs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are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created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enable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communication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between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frontend</a:t>
            </a:r>
            <a:r>
              <a:rPr lang="en-US"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lang="en-US"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0187CC"/>
                </a:solidFill>
                <a:latin typeface="Arial"/>
                <a:cs typeface="Arial"/>
              </a:rPr>
              <a:t>backend.</a:t>
            </a:r>
            <a:endParaRPr lang="en-US"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Business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logic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implemented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process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operations.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0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Spring</a:t>
            </a:r>
            <a:r>
              <a:rPr sz="1800" spc="-6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0187CC"/>
                </a:solidFill>
                <a:latin typeface="Arial"/>
                <a:cs typeface="Arial"/>
              </a:rPr>
              <a:t>JPA</a:t>
            </a:r>
            <a:r>
              <a:rPr sz="1800" spc="-7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for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efficient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interaction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with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database.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Exception</a:t>
            </a:r>
            <a:r>
              <a:rPr sz="1800" spc="-5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handling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mechanisms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ensure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stable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reliable</a:t>
            </a:r>
            <a:r>
              <a:rPr sz="1800" spc="-4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system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performance.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334000" y="6639327"/>
            <a:ext cx="10175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Database</a:t>
            </a:r>
            <a:r>
              <a:rPr spc="-15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656" y="1410957"/>
            <a:ext cx="10556240" cy="420506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27050" indent="-527050">
              <a:lnSpc>
                <a:spcPct val="300000"/>
              </a:lnSpc>
              <a:spcBef>
                <a:spcPts val="420"/>
              </a:spcBef>
              <a:buFont typeface="MS PGothic"/>
              <a:buChar char="❖"/>
              <a:tabLst>
                <a:tab pos="527050" algn="l"/>
              </a:tabLst>
            </a:pP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information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stored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relational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database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structured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format.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dirty="0">
                <a:latin typeface="MS PGothic"/>
                <a:cs typeface="MS PGothic"/>
              </a:rPr>
              <a:t>   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Tables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are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designed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maintain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details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such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ID,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name,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department,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salary.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Database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supports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efficient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CRUD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operations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managing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employee</a:t>
            </a:r>
            <a:r>
              <a:rPr sz="1800" spc="-3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records.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0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Spring</a:t>
            </a:r>
            <a:r>
              <a:rPr sz="1800" spc="-5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0187CC"/>
                </a:solidFill>
                <a:latin typeface="Arial"/>
                <a:cs typeface="Arial"/>
              </a:rPr>
              <a:t>JPA</a:t>
            </a:r>
            <a:r>
              <a:rPr sz="1800" spc="-7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used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simplify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database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interaction</a:t>
            </a:r>
            <a:r>
              <a:rPr sz="1800" spc="-25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mapping.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300000"/>
              </a:lnSpc>
              <a:spcBef>
                <a:spcPts val="325"/>
              </a:spcBef>
            </a:pPr>
            <a:r>
              <a:rPr sz="1800" spc="-50" dirty="0">
                <a:solidFill>
                  <a:srgbClr val="0187CC"/>
                </a:solidFill>
                <a:latin typeface="MS PGothic"/>
                <a:cs typeface="MS PGothic"/>
              </a:rPr>
              <a:t>❖</a:t>
            </a:r>
            <a:r>
              <a:rPr lang="en-US" spc="-50" dirty="0">
                <a:latin typeface="MS PGothic"/>
                <a:cs typeface="MS PGothic"/>
              </a:rPr>
              <a:t>    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Proper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data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organization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ensures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consistency,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integrity,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secure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storage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187CC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0187C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187CC"/>
                </a:solidFill>
                <a:latin typeface="Arial"/>
                <a:cs typeface="Arial"/>
              </a:rPr>
              <a:t>records.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410200" y="6639327"/>
            <a:ext cx="9413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Project</a:t>
            </a:r>
            <a:r>
              <a:rPr spc="-90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38956" y="1410957"/>
            <a:ext cx="10990580" cy="4589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 marR="5080" indent="-464820">
              <a:lnSpc>
                <a:spcPct val="200000"/>
              </a:lnSpc>
              <a:spcBef>
                <a:spcPts val="100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The</a:t>
            </a:r>
            <a:r>
              <a:rPr b="0" spc="-25" dirty="0"/>
              <a:t> </a:t>
            </a:r>
            <a:r>
              <a:rPr b="0" dirty="0"/>
              <a:t>Employee</a:t>
            </a:r>
            <a:r>
              <a:rPr b="0" spc="-20" dirty="0"/>
              <a:t> </a:t>
            </a:r>
            <a:r>
              <a:rPr b="0" dirty="0"/>
              <a:t>Management</a:t>
            </a:r>
            <a:r>
              <a:rPr b="0" spc="-25" dirty="0"/>
              <a:t> </a:t>
            </a:r>
            <a:r>
              <a:rPr b="0" dirty="0"/>
              <a:t>System</a:t>
            </a:r>
            <a:r>
              <a:rPr b="0" spc="-20" dirty="0"/>
              <a:t> </a:t>
            </a:r>
            <a:r>
              <a:rPr b="0" dirty="0"/>
              <a:t>is</a:t>
            </a:r>
            <a:r>
              <a:rPr b="0" spc="-25" dirty="0"/>
              <a:t> </a:t>
            </a:r>
            <a:r>
              <a:rPr b="0" dirty="0"/>
              <a:t>a</a:t>
            </a:r>
            <a:r>
              <a:rPr b="0" spc="-20" dirty="0"/>
              <a:t> </a:t>
            </a:r>
            <a:r>
              <a:rPr b="0" spc="-10" dirty="0"/>
              <a:t>web-</a:t>
            </a:r>
            <a:r>
              <a:rPr b="0" dirty="0"/>
              <a:t>based</a:t>
            </a:r>
            <a:r>
              <a:rPr b="0" spc="-25" dirty="0"/>
              <a:t> </a:t>
            </a:r>
            <a:r>
              <a:rPr b="0" dirty="0"/>
              <a:t>application</a:t>
            </a:r>
            <a:r>
              <a:rPr b="0" spc="-20" dirty="0"/>
              <a:t> </a:t>
            </a:r>
            <a:r>
              <a:rPr b="0" dirty="0"/>
              <a:t>developed</a:t>
            </a:r>
            <a:r>
              <a:rPr b="0" spc="-25" dirty="0"/>
              <a:t> </a:t>
            </a:r>
            <a:r>
              <a:rPr b="0" dirty="0"/>
              <a:t>to</a:t>
            </a:r>
            <a:r>
              <a:rPr b="0" spc="-20" dirty="0"/>
              <a:t> </a:t>
            </a:r>
            <a:r>
              <a:rPr b="0" dirty="0"/>
              <a:t>manage</a:t>
            </a:r>
            <a:r>
              <a:rPr b="0" spc="-25" dirty="0"/>
              <a:t> </a:t>
            </a:r>
            <a:r>
              <a:rPr b="0" spc="-10" dirty="0"/>
              <a:t>employee </a:t>
            </a:r>
            <a:r>
              <a:rPr b="0" dirty="0"/>
              <a:t>records</a:t>
            </a:r>
            <a:r>
              <a:rPr b="0" spc="-35" dirty="0"/>
              <a:t> </a:t>
            </a:r>
            <a:r>
              <a:rPr b="0" spc="-10" dirty="0"/>
              <a:t>efficiently.</a:t>
            </a:r>
          </a:p>
          <a:p>
            <a:pPr marL="476884" indent="-464184">
              <a:lnSpc>
                <a:spcPct val="200000"/>
              </a:lnSpc>
              <a:spcBef>
                <a:spcPts val="325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It</a:t>
            </a:r>
            <a:r>
              <a:rPr b="0" spc="-30" dirty="0"/>
              <a:t> </a:t>
            </a:r>
            <a:r>
              <a:rPr b="0" dirty="0"/>
              <a:t>provides</a:t>
            </a:r>
            <a:r>
              <a:rPr b="0" spc="-30" dirty="0"/>
              <a:t> </a:t>
            </a:r>
            <a:r>
              <a:rPr b="0" dirty="0"/>
              <a:t>a</a:t>
            </a:r>
            <a:r>
              <a:rPr b="0" spc="-35" dirty="0"/>
              <a:t> </a:t>
            </a:r>
            <a:r>
              <a:rPr b="0" dirty="0"/>
              <a:t>centralized</a:t>
            </a:r>
            <a:r>
              <a:rPr b="0" spc="-30" dirty="0"/>
              <a:t> </a:t>
            </a:r>
            <a:r>
              <a:rPr b="0" dirty="0"/>
              <a:t>platform</a:t>
            </a:r>
            <a:r>
              <a:rPr b="0" spc="-30" dirty="0"/>
              <a:t> </a:t>
            </a:r>
            <a:r>
              <a:rPr b="0" dirty="0"/>
              <a:t>for</a:t>
            </a:r>
            <a:r>
              <a:rPr b="0" spc="-30" dirty="0"/>
              <a:t> </a:t>
            </a:r>
            <a:r>
              <a:rPr b="0" dirty="0"/>
              <a:t>storing</a:t>
            </a:r>
            <a:r>
              <a:rPr b="0" spc="-35" dirty="0"/>
              <a:t> </a:t>
            </a:r>
            <a:r>
              <a:rPr b="0" dirty="0"/>
              <a:t>and</a:t>
            </a:r>
            <a:r>
              <a:rPr b="0" spc="-30" dirty="0"/>
              <a:t> </a:t>
            </a:r>
            <a:r>
              <a:rPr b="0" dirty="0"/>
              <a:t>maintaining</a:t>
            </a:r>
            <a:r>
              <a:rPr b="0" spc="-30" dirty="0"/>
              <a:t> </a:t>
            </a:r>
            <a:r>
              <a:rPr b="0" dirty="0"/>
              <a:t>employee</a:t>
            </a:r>
            <a:r>
              <a:rPr b="0" spc="-30" dirty="0"/>
              <a:t> </a:t>
            </a:r>
            <a:r>
              <a:rPr b="0" spc="-10" dirty="0"/>
              <a:t>information.</a:t>
            </a:r>
          </a:p>
          <a:p>
            <a:pPr marL="476884" indent="-464184">
              <a:lnSpc>
                <a:spcPct val="200000"/>
              </a:lnSpc>
              <a:spcBef>
                <a:spcPts val="320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Administrators</a:t>
            </a:r>
            <a:r>
              <a:rPr b="0" spc="-35" dirty="0"/>
              <a:t> </a:t>
            </a:r>
            <a:r>
              <a:rPr b="0" dirty="0"/>
              <a:t>can</a:t>
            </a:r>
            <a:r>
              <a:rPr b="0" spc="-35" dirty="0"/>
              <a:t> </a:t>
            </a:r>
            <a:r>
              <a:rPr b="0" dirty="0"/>
              <a:t>add,</a:t>
            </a:r>
            <a:r>
              <a:rPr b="0" spc="-35" dirty="0"/>
              <a:t> </a:t>
            </a:r>
            <a:r>
              <a:rPr b="0" dirty="0"/>
              <a:t>update,</a:t>
            </a:r>
            <a:r>
              <a:rPr b="0" spc="-40" dirty="0"/>
              <a:t> </a:t>
            </a:r>
            <a:r>
              <a:rPr b="0" dirty="0"/>
              <a:t>view,</a:t>
            </a:r>
            <a:r>
              <a:rPr b="0" spc="-35" dirty="0"/>
              <a:t> </a:t>
            </a:r>
            <a:r>
              <a:rPr b="0" dirty="0"/>
              <a:t>search,</a:t>
            </a:r>
            <a:r>
              <a:rPr b="0" spc="-35" dirty="0"/>
              <a:t> </a:t>
            </a:r>
            <a:r>
              <a:rPr b="0" dirty="0"/>
              <a:t>and</a:t>
            </a:r>
            <a:r>
              <a:rPr b="0" spc="-35" dirty="0"/>
              <a:t> </a:t>
            </a:r>
            <a:r>
              <a:rPr b="0" dirty="0"/>
              <a:t>delete</a:t>
            </a:r>
            <a:r>
              <a:rPr b="0" spc="-35" dirty="0"/>
              <a:t> </a:t>
            </a:r>
            <a:r>
              <a:rPr b="0" dirty="0"/>
              <a:t>employee</a:t>
            </a:r>
            <a:r>
              <a:rPr b="0" spc="-35" dirty="0"/>
              <a:t> </a:t>
            </a:r>
            <a:r>
              <a:rPr b="0" dirty="0"/>
              <a:t>records</a:t>
            </a:r>
            <a:r>
              <a:rPr b="0" spc="-35" dirty="0"/>
              <a:t> </a:t>
            </a:r>
            <a:r>
              <a:rPr b="0" spc="-10" dirty="0"/>
              <a:t>easily.</a:t>
            </a:r>
          </a:p>
          <a:p>
            <a:pPr marL="476884" indent="-464184">
              <a:lnSpc>
                <a:spcPct val="200000"/>
              </a:lnSpc>
              <a:spcBef>
                <a:spcPts val="325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The</a:t>
            </a:r>
            <a:r>
              <a:rPr b="0" spc="-35" dirty="0"/>
              <a:t> </a:t>
            </a:r>
            <a:r>
              <a:rPr b="0" dirty="0"/>
              <a:t>system</a:t>
            </a:r>
            <a:r>
              <a:rPr b="0" spc="-35" dirty="0"/>
              <a:t> </a:t>
            </a:r>
            <a:r>
              <a:rPr b="0" dirty="0"/>
              <a:t>integrates</a:t>
            </a:r>
            <a:r>
              <a:rPr b="0" spc="-35" dirty="0"/>
              <a:t> </a:t>
            </a:r>
            <a:r>
              <a:rPr b="0" dirty="0"/>
              <a:t>an</a:t>
            </a:r>
            <a:r>
              <a:rPr b="0" spc="-95" dirty="0"/>
              <a:t> </a:t>
            </a:r>
            <a:r>
              <a:rPr b="0" dirty="0"/>
              <a:t>Angular</a:t>
            </a:r>
            <a:r>
              <a:rPr b="0" spc="-35" dirty="0"/>
              <a:t> </a:t>
            </a:r>
            <a:r>
              <a:rPr b="0" dirty="0"/>
              <a:t>frontend</a:t>
            </a:r>
            <a:r>
              <a:rPr b="0" spc="-35" dirty="0"/>
              <a:t> </a:t>
            </a:r>
            <a:r>
              <a:rPr b="0" dirty="0"/>
              <a:t>with</a:t>
            </a:r>
            <a:r>
              <a:rPr b="0" spc="-40" dirty="0"/>
              <a:t> </a:t>
            </a:r>
            <a:r>
              <a:rPr b="0" dirty="0"/>
              <a:t>a</a:t>
            </a:r>
            <a:r>
              <a:rPr b="0" spc="-35" dirty="0"/>
              <a:t> </a:t>
            </a:r>
            <a:r>
              <a:rPr b="0" dirty="0"/>
              <a:t>Spring</a:t>
            </a:r>
            <a:r>
              <a:rPr b="0" spc="-35" dirty="0"/>
              <a:t> </a:t>
            </a:r>
            <a:r>
              <a:rPr b="0" dirty="0"/>
              <a:t>Boot</a:t>
            </a:r>
            <a:r>
              <a:rPr b="0" spc="-35" dirty="0"/>
              <a:t> </a:t>
            </a:r>
            <a:r>
              <a:rPr b="0" dirty="0"/>
              <a:t>backend</a:t>
            </a:r>
            <a:r>
              <a:rPr b="0" spc="-35" dirty="0"/>
              <a:t> </a:t>
            </a:r>
            <a:r>
              <a:rPr b="0" dirty="0"/>
              <a:t>using</a:t>
            </a:r>
            <a:r>
              <a:rPr b="0" spc="-35" dirty="0"/>
              <a:t> </a:t>
            </a:r>
            <a:r>
              <a:rPr b="0" dirty="0"/>
              <a:t>RESTful</a:t>
            </a:r>
            <a:r>
              <a:rPr b="0" spc="-95" dirty="0"/>
              <a:t> </a:t>
            </a:r>
            <a:r>
              <a:rPr b="0" spc="-10" dirty="0"/>
              <a:t>APIs.</a:t>
            </a:r>
          </a:p>
          <a:p>
            <a:pPr marL="476884" indent="-464184">
              <a:lnSpc>
                <a:spcPct val="200000"/>
              </a:lnSpc>
              <a:spcBef>
                <a:spcPts val="325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Employee</a:t>
            </a:r>
            <a:r>
              <a:rPr b="0" spc="-25" dirty="0"/>
              <a:t> </a:t>
            </a:r>
            <a:r>
              <a:rPr b="0" dirty="0"/>
              <a:t>data</a:t>
            </a:r>
            <a:r>
              <a:rPr b="0" spc="-25" dirty="0"/>
              <a:t> </a:t>
            </a:r>
            <a:r>
              <a:rPr b="0" dirty="0"/>
              <a:t>is</a:t>
            </a:r>
            <a:r>
              <a:rPr b="0" spc="-25" dirty="0"/>
              <a:t> </a:t>
            </a:r>
            <a:r>
              <a:rPr b="0" dirty="0"/>
              <a:t>securely</a:t>
            </a:r>
            <a:r>
              <a:rPr b="0" spc="-25" dirty="0"/>
              <a:t> </a:t>
            </a:r>
            <a:r>
              <a:rPr b="0" dirty="0"/>
              <a:t>stored</a:t>
            </a:r>
            <a:r>
              <a:rPr b="0" spc="-25" dirty="0"/>
              <a:t> </a:t>
            </a:r>
            <a:r>
              <a:rPr b="0" dirty="0"/>
              <a:t>in</a:t>
            </a:r>
            <a:r>
              <a:rPr b="0" spc="-30" dirty="0"/>
              <a:t> </a:t>
            </a:r>
            <a:r>
              <a:rPr b="0" dirty="0"/>
              <a:t>a</a:t>
            </a:r>
            <a:r>
              <a:rPr b="0" spc="-25" dirty="0"/>
              <a:t> </a:t>
            </a:r>
            <a:r>
              <a:rPr b="0" dirty="0"/>
              <a:t>relational</a:t>
            </a:r>
            <a:r>
              <a:rPr b="0" spc="-25" dirty="0"/>
              <a:t> </a:t>
            </a:r>
            <a:r>
              <a:rPr b="0" dirty="0"/>
              <a:t>database</a:t>
            </a:r>
            <a:r>
              <a:rPr b="0" spc="-25" dirty="0"/>
              <a:t> </a:t>
            </a:r>
            <a:r>
              <a:rPr b="0" dirty="0"/>
              <a:t>for</a:t>
            </a:r>
            <a:r>
              <a:rPr b="0" spc="-25" dirty="0"/>
              <a:t> </a:t>
            </a:r>
            <a:r>
              <a:rPr b="0" dirty="0"/>
              <a:t>efficient</a:t>
            </a:r>
            <a:r>
              <a:rPr b="0" spc="-25" dirty="0"/>
              <a:t> </a:t>
            </a:r>
            <a:r>
              <a:rPr b="0" spc="-10" dirty="0"/>
              <a:t>access.</a:t>
            </a:r>
          </a:p>
          <a:p>
            <a:pPr marL="476884" indent="-464184">
              <a:lnSpc>
                <a:spcPct val="200000"/>
              </a:lnSpc>
              <a:spcBef>
                <a:spcPts val="325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The</a:t>
            </a:r>
            <a:r>
              <a:rPr b="0" spc="-25" dirty="0"/>
              <a:t> </a:t>
            </a:r>
            <a:r>
              <a:rPr b="0" dirty="0"/>
              <a:t>application</a:t>
            </a:r>
            <a:r>
              <a:rPr b="0" spc="-25" dirty="0"/>
              <a:t> </a:t>
            </a:r>
            <a:r>
              <a:rPr b="0" dirty="0"/>
              <a:t>is</a:t>
            </a:r>
            <a:r>
              <a:rPr b="0" spc="-25" dirty="0"/>
              <a:t> </a:t>
            </a:r>
            <a:r>
              <a:rPr b="0" dirty="0"/>
              <a:t>containerized</a:t>
            </a:r>
            <a:r>
              <a:rPr b="0" spc="-25" dirty="0"/>
              <a:t> </a:t>
            </a:r>
            <a:r>
              <a:rPr b="0" dirty="0"/>
              <a:t>using</a:t>
            </a:r>
            <a:r>
              <a:rPr b="0" spc="-25" dirty="0"/>
              <a:t> </a:t>
            </a:r>
            <a:r>
              <a:rPr b="0" dirty="0"/>
              <a:t>Docker</a:t>
            </a:r>
            <a:r>
              <a:rPr b="0" spc="-30" dirty="0"/>
              <a:t> </a:t>
            </a:r>
            <a:r>
              <a:rPr b="0" dirty="0"/>
              <a:t>for</a:t>
            </a:r>
            <a:r>
              <a:rPr b="0" spc="-25" dirty="0"/>
              <a:t> </a:t>
            </a:r>
            <a:r>
              <a:rPr b="0" dirty="0"/>
              <a:t>easy</a:t>
            </a:r>
            <a:r>
              <a:rPr b="0" spc="-25" dirty="0"/>
              <a:t> </a:t>
            </a:r>
            <a:r>
              <a:rPr b="0" dirty="0"/>
              <a:t>deployment</a:t>
            </a:r>
            <a:r>
              <a:rPr b="0" spc="-25" dirty="0"/>
              <a:t> </a:t>
            </a:r>
            <a:r>
              <a:rPr b="0" dirty="0"/>
              <a:t>and</a:t>
            </a:r>
            <a:r>
              <a:rPr b="0" spc="-25" dirty="0"/>
              <a:t> </a:t>
            </a:r>
            <a:r>
              <a:rPr b="0" spc="-10" dirty="0"/>
              <a:t>portability.</a:t>
            </a:r>
          </a:p>
          <a:p>
            <a:pPr marL="476884" indent="-464184">
              <a:lnSpc>
                <a:spcPct val="200000"/>
              </a:lnSpc>
              <a:spcBef>
                <a:spcPts val="320"/>
              </a:spcBef>
              <a:buFont typeface="MS PGothic"/>
              <a:buChar char="❖"/>
              <a:tabLst>
                <a:tab pos="476884" algn="l"/>
              </a:tabLst>
            </a:pPr>
            <a:r>
              <a:rPr b="0" dirty="0"/>
              <a:t>The</a:t>
            </a:r>
            <a:r>
              <a:rPr b="0" spc="-25" dirty="0"/>
              <a:t> </a:t>
            </a:r>
            <a:r>
              <a:rPr b="0" dirty="0"/>
              <a:t>system</a:t>
            </a:r>
            <a:r>
              <a:rPr b="0" spc="-25" dirty="0"/>
              <a:t> </a:t>
            </a:r>
            <a:r>
              <a:rPr b="0" dirty="0"/>
              <a:t>is</a:t>
            </a:r>
            <a:r>
              <a:rPr b="0" spc="-30" dirty="0"/>
              <a:t> </a:t>
            </a:r>
            <a:r>
              <a:rPr b="0" dirty="0"/>
              <a:t>deployed</a:t>
            </a:r>
            <a:r>
              <a:rPr b="0" spc="-25" dirty="0"/>
              <a:t> </a:t>
            </a:r>
            <a:r>
              <a:rPr b="0" dirty="0"/>
              <a:t>on</a:t>
            </a:r>
            <a:r>
              <a:rPr b="0" spc="-25" dirty="0"/>
              <a:t> </a:t>
            </a:r>
            <a:r>
              <a:rPr b="0" dirty="0"/>
              <a:t>Microsoft</a:t>
            </a:r>
            <a:r>
              <a:rPr b="0" spc="-90" dirty="0"/>
              <a:t> </a:t>
            </a:r>
            <a:r>
              <a:rPr b="0" dirty="0"/>
              <a:t>Azure,</a:t>
            </a:r>
            <a:r>
              <a:rPr b="0" spc="-25" dirty="0"/>
              <a:t> </a:t>
            </a:r>
            <a:r>
              <a:rPr b="0" dirty="0"/>
              <a:t>ensuring</a:t>
            </a:r>
            <a:r>
              <a:rPr b="0" spc="-30" dirty="0"/>
              <a:t> </a:t>
            </a:r>
            <a:r>
              <a:rPr b="0" dirty="0"/>
              <a:t>scalability</a:t>
            </a:r>
            <a:r>
              <a:rPr b="0" spc="-25" dirty="0"/>
              <a:t> </a:t>
            </a:r>
            <a:r>
              <a:rPr b="0" dirty="0"/>
              <a:t>and</a:t>
            </a:r>
            <a:r>
              <a:rPr b="0" spc="-25" dirty="0"/>
              <a:t> </a:t>
            </a:r>
            <a:r>
              <a:rPr b="0" dirty="0"/>
              <a:t>reliable</a:t>
            </a:r>
            <a:r>
              <a:rPr b="0" spc="-30" dirty="0"/>
              <a:t> </a:t>
            </a:r>
            <a:r>
              <a:rPr b="0" dirty="0"/>
              <a:t>cloud</a:t>
            </a:r>
            <a:r>
              <a:rPr b="0" spc="-25" dirty="0"/>
              <a:t> </a:t>
            </a:r>
            <a:r>
              <a:rPr b="0" spc="-10" dirty="0"/>
              <a:t>access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334000" y="6639327"/>
            <a:ext cx="10175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Application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075" y="1642900"/>
            <a:ext cx="5062699" cy="33494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9248" y="1642900"/>
            <a:ext cx="5508699" cy="32872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1374" y="1229355"/>
            <a:ext cx="118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Login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 MT"/>
                <a:cs typeface="Arial MT"/>
              </a:rPr>
              <a:t>Page</a:t>
            </a:r>
            <a:endParaRPr sz="180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335774" y="6639327"/>
            <a:ext cx="1015814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19225" y="1229355"/>
            <a:ext cx="219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Employee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List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-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 MT"/>
                <a:cs typeface="Arial MT"/>
              </a:rPr>
              <a:t>Page</a:t>
            </a:r>
            <a:endParaRPr sz="180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 </a:t>
            </a:r>
            <a:r>
              <a:rPr dirty="0"/>
              <a:t>Application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075" y="1642900"/>
            <a:ext cx="5062699" cy="33494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1374" y="1229355"/>
            <a:ext cx="232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Employee</a:t>
            </a:r>
            <a:r>
              <a:rPr sz="18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chemeClr val="tx1"/>
                </a:solidFill>
                <a:latin typeface="Arial MT"/>
                <a:cs typeface="Arial MT"/>
              </a:rPr>
              <a:t>Details</a:t>
            </a:r>
            <a:r>
              <a:rPr sz="1800" spc="-20" dirty="0">
                <a:solidFill>
                  <a:schemeClr val="tx1"/>
                </a:solidFill>
                <a:latin typeface="Arial MT"/>
                <a:cs typeface="Arial MT"/>
              </a:rPr>
              <a:t> form</a:t>
            </a:r>
            <a:endParaRPr sz="180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105400" y="6639327"/>
            <a:ext cx="12461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19225" y="1229355"/>
            <a:ext cx="219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  <a:latin typeface="Arial MT"/>
                <a:cs typeface="Arial MT"/>
              </a:rPr>
              <a:t>Dashboard</a:t>
            </a:r>
            <a:endParaRPr sz="18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8FC223-5D70-D4E2-D01B-DD7F7CF4D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642900"/>
            <a:ext cx="5134373" cy="3349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7F3B0D-EDF2-BC86-7287-CB58F74D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6AB853-9FED-AD20-88F9-FA9AE9D170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484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2EC23B-48C9-B944-74DE-3ACACF9972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3AAB0AFC-52F7-9A9B-E15F-5E3BAA74CFE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863952C-5754-536F-D599-78DB03C2750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05BEDC0-9B56-E9CB-B25A-DC34BD2F56B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05400" y="6639327"/>
            <a:ext cx="12461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E9129-FF81-FBFC-2278-B11214C0CE27}"/>
              </a:ext>
            </a:extLst>
          </p:cNvPr>
          <p:cNvSpPr txBox="1"/>
          <p:nvPr/>
        </p:nvSpPr>
        <p:spPr>
          <a:xfrm>
            <a:off x="267301" y="830552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Docker Deployment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A8A464-BDDE-E963-CD13-924402F34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394" y="1295400"/>
            <a:ext cx="8458200" cy="483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6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EC59E2-124A-846E-DE4C-CDB34B73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5E3993-022E-E7E5-BB4C-A5CE9D9CF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74" y="21944"/>
            <a:ext cx="4580890" cy="484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5725">
              <a:lnSpc>
                <a:spcPct val="145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5" dirty="0"/>
              <a:t> </a:t>
            </a:r>
            <a:r>
              <a:rPr spc="-10" dirty="0"/>
              <a:t>System</a:t>
            </a:r>
            <a:endParaRPr sz="2000"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5BC5761-3D4B-86EC-208D-7830DF5250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30" y="6397883"/>
            <a:ext cx="645765" cy="42293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96E2E47-F41A-48D9-4343-E4D9E704A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9390" y="1109002"/>
            <a:ext cx="10999816" cy="4794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4" marR="5080">
              <a:lnSpc>
                <a:spcPct val="15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lang="en-US" sz="1600" b="0" dirty="0"/>
              <a:t>Employee Management System is a full‑stack web application that helps administrators to manage employee records, roles, and related workflows efficiently.</a:t>
            </a:r>
            <a:br>
              <a:rPr lang="en-US" sz="1600" dirty="0"/>
            </a:br>
            <a:r>
              <a:rPr lang="en-US" sz="1600" b="0" dirty="0"/>
              <a:t>It provides:</a:t>
            </a:r>
            <a:br>
              <a:rPr lang="en-US" sz="1600" dirty="0"/>
            </a:br>
            <a:r>
              <a:rPr lang="en-US" sz="1600" b="0" dirty="0"/>
              <a:t>-- Centralized employee CRUD (create, read, update, delete) and profile management</a:t>
            </a:r>
            <a:br>
              <a:rPr lang="en-US" sz="1600" dirty="0"/>
            </a:br>
            <a:r>
              <a:rPr lang="en-US" sz="1600" b="0" dirty="0"/>
              <a:t>-- Role-based access control and secure authentication (JWT) for admins and users</a:t>
            </a:r>
            <a:br>
              <a:rPr lang="en-US" sz="1600" dirty="0"/>
            </a:br>
            <a:r>
              <a:rPr lang="en-US" sz="1600" b="0" dirty="0"/>
              <a:t>-- RESTful API with validation, search, filtering, and pagination for fast data access</a:t>
            </a:r>
            <a:br>
              <a:rPr lang="en-US" sz="1600" dirty="0"/>
            </a:br>
            <a:r>
              <a:rPr lang="en-US" sz="1600" b="0" dirty="0"/>
              <a:t>-- Audit-ready activity logging and data integrity with MySQL persistence</a:t>
            </a:r>
            <a:br>
              <a:rPr lang="en-US" sz="1600" dirty="0"/>
            </a:br>
            <a:r>
              <a:rPr lang="en-US" sz="1600" b="0" dirty="0"/>
              <a:t>-- Docker services for consistent environments and easy deployment (backend + database)</a:t>
            </a:r>
            <a:br>
              <a:rPr lang="en-US" sz="1600" dirty="0"/>
            </a:br>
            <a:r>
              <a:rPr lang="en-US" sz="1600" b="0" dirty="0"/>
              <a:t>-- Ready for cloud deployment and scaling (can be deployed to Azure or other cloud providers)</a:t>
            </a:r>
          </a:p>
          <a:p>
            <a:pPr marL="12064" marR="5080">
              <a:lnSpc>
                <a:spcPct val="150000"/>
              </a:lnSpc>
              <a:spcBef>
                <a:spcPts val="100"/>
              </a:spcBef>
              <a:tabLst>
                <a:tab pos="476884" algn="l"/>
              </a:tabLst>
            </a:pPr>
            <a:endParaRPr lang="en-US" sz="1600" b="0" spc="-10" dirty="0"/>
          </a:p>
          <a:p>
            <a:pPr marL="12064" marR="5080">
              <a:lnSpc>
                <a:spcPct val="15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lang="en-US" sz="1600" b="0" dirty="0"/>
              <a:t>At last, this Capstone project demonstrates the practical implementation of modern web technologies - Angular, Spring Boot, MySQL, and Docker to solve real‑world employee management challenges, improving operational efficiency, maintainability, and deployment portability.</a:t>
            </a:r>
            <a:endParaRPr sz="1600"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9E2F71-78AC-2ED2-8887-84FCAFE6348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2024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RPS</a:t>
            </a:r>
            <a:r>
              <a:rPr spc="-20" dirty="0"/>
              <a:t> </a:t>
            </a:r>
            <a:r>
              <a:rPr dirty="0"/>
              <a:t>Consulting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20" dirty="0"/>
              <a:t> </a:t>
            </a:r>
            <a:r>
              <a:rPr spc="-10" dirty="0"/>
              <a:t>reserved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8B8991-B1BB-70A8-8DAF-E53BDDED23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04072E-01FC-242B-9447-CA1203793B8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0" y="6639327"/>
            <a:ext cx="1017588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General</a:t>
            </a:r>
            <a:r>
              <a:rPr dirty="0"/>
              <a:t> - </a:t>
            </a:r>
            <a:r>
              <a:rPr spc="-25" dirty="0"/>
              <a:t>RPS</a:t>
            </a:r>
            <a:r>
              <a:rPr spc="-20" dirty="0"/>
              <a:t>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BBFFC-74D0-F99A-0B5D-D11AEB9AF85B}"/>
              </a:ext>
            </a:extLst>
          </p:cNvPr>
          <p:cNvSpPr txBox="1"/>
          <p:nvPr/>
        </p:nvSpPr>
        <p:spPr>
          <a:xfrm>
            <a:off x="211956" y="744012"/>
            <a:ext cx="248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187CC"/>
                </a:solidFill>
                <a:latin typeface="Arial"/>
                <a:ea typeface="+mn-ea"/>
                <a:cs typeface="Arial"/>
              </a:rPr>
              <a:t>Conclusion</a:t>
            </a:r>
            <a:endParaRPr lang="en-IN" sz="2000" b="1" dirty="0">
              <a:solidFill>
                <a:srgbClr val="0187CC"/>
              </a:solidFill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50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</TotalTime>
  <Words>1245</Words>
  <Application>Microsoft Office PowerPoint</Application>
  <PresentationFormat>Widescreen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MS PGothic</vt:lpstr>
      <vt:lpstr>Arial</vt:lpstr>
      <vt:lpstr>Arial MT</vt:lpstr>
      <vt:lpstr>Calibri</vt:lpstr>
      <vt:lpstr>Office Theme</vt:lpstr>
      <vt:lpstr>WIPRO NGA Program – 25SUB4530_CP_JAVA</vt:lpstr>
      <vt:lpstr>Employee Management System</vt:lpstr>
      <vt:lpstr>Employee Management System</vt:lpstr>
      <vt:lpstr>Employee Management System</vt:lpstr>
      <vt:lpstr>Employee Management System</vt:lpstr>
      <vt:lpstr>Employee Management System</vt:lpstr>
      <vt:lpstr>Employee Management System</vt:lpstr>
      <vt:lpstr>Employee Management System Frontend Design</vt:lpstr>
      <vt:lpstr>Employee Management System Backend Design</vt:lpstr>
      <vt:lpstr>Employee Management System Database Design</vt:lpstr>
      <vt:lpstr>Employee Management System Project Overview</vt:lpstr>
      <vt:lpstr>Employee Management System Application ScreenShots</vt:lpstr>
      <vt:lpstr>Employee Management System Application ScreenShots</vt:lpstr>
      <vt:lpstr>Employee Management System</vt:lpstr>
      <vt:lpstr>Employee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CP_JAVA_Presentation Template_PPT.pptx</dc:title>
  <dc:creator>NIRANCHANA</dc:creator>
  <cp:lastModifiedBy>niru051103@gmail.com</cp:lastModifiedBy>
  <cp:revision>6</cp:revision>
  <dcterms:created xsi:type="dcterms:W3CDTF">2026-02-08T20:11:03Z</dcterms:created>
  <dcterms:modified xsi:type="dcterms:W3CDTF">2026-02-09T18:33:42Z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2026-02-08T00:00:00Z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2026-02-08T00:00:00Z</vt:filetime>
  </property>
</Properties>
</file>